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09728" cy="3931920"/>
          </a:xfrm>
          <a:prstGeom prst="rect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0F1A"/>
                </a:solidFill>
                <a:latin typeface="Malgun Gothic"/>
              </a:rPr>
              <a:t>DAY 1  |  메타광고 마스터 클래스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Malgun Gothic"/>
              </a:rPr>
              <a:t>4일 만에 일매출 500만원,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C83D"/>
                </a:solidFill>
                <a:latin typeface="Malgun Gothic"/>
              </a:rPr>
              <a:t>메타광고 전략의 전부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algun Gothic"/>
              </a:rPr>
              <a:t>강사   김고딩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B8C0CC"/>
                </a:solidFill>
                <a:latin typeface="Malgun Gothic"/>
              </a:rPr>
              <a:t>고3 연매출 3억 · 수능 직후 월 순수익 4,500만원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8C0CC"/>
                </a:solidFill>
                <a:latin typeface="Malgun Gothic"/>
              </a:rPr>
              <a:t>DAY 1 / 4  ·  되는 시장 vs 안되는 시장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FFC83D"/>
                </a:solidFill>
                <a:latin typeface="Malgun Gothic"/>
              </a:rPr>
              <a:t>여러분은 돈을 왜 벌고 싶으신가요?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FC83D"/>
                </a:solidFill>
                <a:latin typeface="Malgun Gothic"/>
              </a:rPr>
              <a:t>더 나은 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algun Gothic"/>
              </a:rPr>
              <a:t>내 삶의 격을 한 단계 위로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28600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FC83D"/>
                </a:solidFill>
                <a:latin typeface="Malgun Gothic"/>
              </a:rPr>
              <a:t>부모님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1089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algun Gothic"/>
              </a:rPr>
              <a:t>효도, 가족의 든든한 버팀목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28600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FC83D"/>
                </a:solidFill>
                <a:latin typeface="Malgun Gothic"/>
              </a:rPr>
              <a:t>자녀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algun Gothic"/>
              </a:rPr>
              <a:t>내 아이에게 더 큰 세상을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82880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286000"/>
            <a:ext cx="26060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FC83D"/>
                </a:solidFill>
                <a:latin typeface="Malgun Gothic"/>
              </a:rPr>
              <a:t>내 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algun Gothic"/>
              </a:rPr>
              <a:t>하고 싶은 일을 마음껏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우리는 모두 다른 목적을 가지고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Malgun Gothic"/>
              </a:rPr>
              <a:t>같은 목표를 향해 나아갑니다.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0F1A"/>
                </a:solidFill>
                <a:latin typeface="Malgun Gothic"/>
              </a:rPr>
              <a:t>강사 이력 / 매출 실적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숫자로 증명하는 실전 경험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240">
            <a:solidFill>
              <a:srgbClr val="3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6060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>
                <a:solidFill>
                  <a:srgbClr val="FFC83D"/>
                </a:solidFill>
                <a:latin typeface="Malgun Gothic"/>
              </a:rPr>
              <a:t>3억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B8C0CC"/>
                </a:solidFill>
                <a:latin typeface="Malgun Gothic"/>
              </a:rPr>
              <a:t>고3 연매출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37744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240">
            <a:solidFill>
              <a:srgbClr val="3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697480"/>
            <a:ext cx="26060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>
                <a:solidFill>
                  <a:srgbClr val="FFC83D"/>
                </a:solidFill>
                <a:latin typeface="Malgun Gothic"/>
              </a:rPr>
              <a:t>2,000~2,500만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611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B8C0CC"/>
                </a:solidFill>
                <a:latin typeface="Malgun Gothic"/>
              </a:rPr>
              <a:t>월 평균 매출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240">
            <a:solidFill>
              <a:srgbClr val="3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697480"/>
            <a:ext cx="26060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>
                <a:solidFill>
                  <a:srgbClr val="FFC83D"/>
                </a:solidFill>
                <a:latin typeface="Malgun Gothic"/>
              </a:rPr>
              <a:t>1,000만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611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B8C0CC"/>
                </a:solidFill>
                <a:latin typeface="Malgun Gothic"/>
              </a:rPr>
              <a:t>월 평균 순수익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377440"/>
            <a:ext cx="2606040" cy="2011680"/>
          </a:xfrm>
          <a:prstGeom prst="roundRect">
            <a:avLst>
              <a:gd name="adj" fmla="val 10000"/>
            </a:avLst>
          </a:prstGeom>
          <a:solidFill>
            <a:srgbClr val="141A2A"/>
          </a:solidFill>
          <a:ln w="15240">
            <a:solidFill>
              <a:srgbClr val="3D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2697480"/>
            <a:ext cx="26060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200" b="1">
                <a:solidFill>
                  <a:srgbClr val="FFC83D"/>
                </a:solidFill>
                <a:latin typeface="Malgun Gothic"/>
              </a:rPr>
              <a:t>4,500만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6118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0">
                <a:solidFill>
                  <a:srgbClr val="B8C0CC"/>
                </a:solidFill>
                <a:latin typeface="Malgun Gothic"/>
              </a:rPr>
              <a:t>수능 직후 월 순수익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9728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Malgun Gothic"/>
              </a:rPr>
              <a:t>그리고 메타광고로는,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Malgun Gothic"/>
              </a:rPr>
              <a:t>시작 4일 만에  ‘일매출 500만원’.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C83D"/>
                </a:solidFill>
                <a:latin typeface="Malgun Gothic"/>
              </a:rPr>
              <a:t>제가 직접 해본 4가지 사업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B8C0CC"/>
                </a:solidFill>
                <a:latin typeface="Malgun Gothic"/>
              </a:rPr>
              <a:t>모두 월 매출 2,500만원 이상은 가뿐히 넘었습니다.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2700">
            <a:solidFill>
              <a:srgbClr val="33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3D9DFF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쿠팡 위탁판매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최저가 경쟁 시스템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19456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2700">
            <a:solidFill>
              <a:srgbClr val="33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51460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3D9DFF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47472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네이버 위탁판매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42976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광고비 100만 단위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19456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2700">
            <a:solidFill>
              <a:srgbClr val="33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3D9D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7472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틱톡 바이럴 마케팅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976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노출 기반 트래픽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219456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B1405"/>
          </a:solidFill>
          <a:ln w="317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251460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FFC83D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47472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메타광고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29768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FFC83D"/>
                </a:solidFill>
                <a:latin typeface="Malgun Gothic"/>
              </a:rPr>
              <a:t>일매출 500 달성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algun Gothic"/>
              </a:rPr>
              <a:t>그런데 다 해보고 깨달은 한 가지 — 되는 시장과 안 되는 시장은 분명히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안 되는 시장 ①   네이버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이미 ‘대기업’이 장악한 레드오션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394960" cy="3931920"/>
          </a:xfrm>
          <a:prstGeom prst="roundRect">
            <a:avLst>
              <a:gd name="adj" fmla="val 5000"/>
            </a:avLst>
          </a:prstGeom>
          <a:solidFill>
            <a:srgbClr val="1F1012"/>
          </a:solidFill>
          <a:ln w="1524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49377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4D4D"/>
                </a:solidFill>
                <a:latin typeface="Malgun Gothic"/>
              </a:rPr>
              <a:t>현실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493776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상품 1개 띄우는 데 광고비 100만원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이미 대기업이 키워드를 장악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뚫으려면 ‘소규모 틈새’ 또는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새 원료가 자주 나오는 건기식 시장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그마저도 100만원 태우고 0개 판매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377440"/>
            <a:ext cx="5029200" cy="3931920"/>
          </a:xfrm>
          <a:prstGeom prst="roundRect">
            <a:avLst>
              <a:gd name="adj" fmla="val 5000"/>
            </a:avLst>
          </a:prstGeom>
          <a:solidFill>
            <a:srgbClr val="141A2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FC83D"/>
                </a:solidFill>
                <a:latin typeface="Malgun Gothic"/>
              </a:rPr>
              <a:t>한 줄 결론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00400"/>
            <a:ext cx="457200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초보 셀러가 자본만 태우다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끝나는 시장.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114800" cy="457200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안 되는 시장 ②   쿠팡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algun Gothic"/>
              </a:rPr>
              <a:t>소비자에게 편한 만큼, 판매자에게는 ‘피눈물’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1F1012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611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FF4D4D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611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최저가 독점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한 상품에 여러 셀러가 붙어도</a:t>
            </a:r>
          </a:p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최저가 1명만 판매 권한 획득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7744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1F1012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611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FF4D4D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474720"/>
            <a:ext cx="3611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브랜드 없으면 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29768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내 자체 제조 브랜드가 아니면</a:t>
            </a:r>
          </a:p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돈 벌기 사실상 불가능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377440"/>
            <a:ext cx="3611880" cy="3291840"/>
          </a:xfrm>
          <a:prstGeom prst="roundRect">
            <a:avLst>
              <a:gd name="adj" fmla="val 7000"/>
            </a:avLst>
          </a:prstGeom>
          <a:solidFill>
            <a:srgbClr val="1F1012"/>
          </a:solidFill>
          <a:ln w="1905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743200"/>
            <a:ext cx="36118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000" b="1">
                <a:solidFill>
                  <a:srgbClr val="FF4D4D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474720"/>
            <a:ext cx="361188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판매정지 갑질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4297680"/>
            <a:ext cx="30632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송장번호 실수 1번 → 2주 정지</a:t>
            </a:r>
          </a:p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그 사이 경쟁사가 다 점령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600" b="1">
                <a:solidFill>
                  <a:srgbClr val="FFC83D"/>
                </a:solidFill>
                <a:latin typeface="Malgun Gothic"/>
              </a:rPr>
              <a:t>쿠팡 · 네이버, 이제 초보 셀러가 살아남을 수 있는 환경이 아닙니다.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0F1A"/>
                </a:solidFill>
                <a:latin typeface="Malgun Gothic"/>
              </a:rPr>
              <a:t>되는 시장   메타광고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algun Gothic"/>
              </a:rPr>
              <a:t>그럼 메타광고는 쉬울까요?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B8C0CC"/>
                </a:solidFill>
                <a:latin typeface="Malgun Gothic"/>
              </a:rPr>
              <a:t>아니요. 어렵습니다. 그래서 ‘쉽게’ 풀어드릴 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141A2A"/>
          </a:solidFill>
          <a:ln w="12700">
            <a:solidFill>
              <a:srgbClr val="555C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B8C0CC"/>
                </a:solidFill>
                <a:latin typeface="Malgun Gothic"/>
              </a:rPr>
              <a:t>흔한 의심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46634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“인스타에서 물건 사본 적 없는데…”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“광고가 그렇게 효율이 좋을까?”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Malgun Gothic"/>
              </a:rPr>
              <a:t>“나도 안 사봤는데 남이 살까?”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5394960" cy="3108960"/>
          </a:xfrm>
          <a:prstGeom prst="roundRect">
            <a:avLst>
              <a:gd name="adj" fmla="val 5000"/>
            </a:avLst>
          </a:prstGeom>
          <a:solidFill>
            <a:srgbClr val="1B1405"/>
          </a:solidFill>
          <a:ln w="2540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56616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FFC83D"/>
                </a:solidFill>
                <a:latin typeface="Malgun Gothic"/>
              </a:rPr>
              <a:t>실제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06240"/>
            <a:ext cx="466344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메타광고 시작   →   4일 만에</a:t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400" b="1">
                <a:solidFill>
                  <a:srgbClr val="FFFFFF"/>
                </a:solidFill>
                <a:latin typeface="Malgun Gothic"/>
              </a:rPr>
              <a:t>     일매출  500만원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C83D"/>
                </a:solidFill>
                <a:latin typeface="Malgun Gothic"/>
              </a:rPr>
              <a:t>메타광고 사이클  ·  단 4단계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B8C0CC"/>
                </a:solidFill>
                <a:latin typeface="Malgun Gothic"/>
              </a:rPr>
              <a:t>더 쉬운 길도, 더 효율적인 사업 방법도 없습니다. 그냥 이 사이클을 반복하세요.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603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90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FFC83D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팔 제품 정하기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무엇을 팔지 결정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64408" y="3858768"/>
            <a:ext cx="146304" cy="329184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5603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90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8346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FFC83D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7490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소구점 찾기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6634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왜 사야 하는지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53328" y="3858768"/>
            <a:ext cx="146304" cy="329184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90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FFC83D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광고 소재 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사고 싶게 보여주기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42248" y="3858768"/>
            <a:ext cx="146304" cy="329184"/>
          </a:xfrm>
          <a:prstGeom prst="rightArrow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06840" y="2560320"/>
            <a:ext cx="2606040" cy="2926080"/>
          </a:xfrm>
          <a:prstGeom prst="roundRect">
            <a:avLst>
              <a:gd name="adj" fmla="val 8000"/>
            </a:avLst>
          </a:prstGeom>
          <a:solidFill>
            <a:srgbClr val="141A2A"/>
          </a:solidFill>
          <a:ln w="190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8346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3600" b="1">
                <a:solidFill>
                  <a:srgbClr val="FFC83D"/>
                </a:solidFill>
                <a:latin typeface="Malgun Gothi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749040"/>
            <a:ext cx="2606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최적 광고 세팅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663440"/>
            <a:ext cx="26060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0">
                <a:solidFill>
                  <a:srgbClr val="B8C0CC"/>
                </a:solidFill>
                <a:latin typeface="Malgun Gothic"/>
              </a:rPr>
              <a:t>돈이 새지 않게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3D9DFF"/>
                </a:solidFill>
                <a:latin typeface="Malgun Gothic"/>
              </a:rPr>
              <a:t>Repeat  →  Repeat  →  Repeat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0B0F1A"/>
                </a:solidFill>
                <a:latin typeface="Malgun Gothic"/>
              </a:rPr>
              <a:t>실전 증명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algun Gothic"/>
              </a:rPr>
              <a:t>이 구조 그대로 → 결과가 나옵니다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B1405"/>
          </a:solidFill>
          <a:ln w="2540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3D9DFF"/>
                </a:solidFill>
                <a:latin typeface="Malgun Gothic"/>
              </a:rPr>
              <a:t>강사 김고딩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4663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1주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4663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C83D"/>
                </a:solidFill>
                <a:latin typeface="Malgun Gothic"/>
              </a:rPr>
              <a:t>일매출 500만원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1B1405"/>
          </a:solidFill>
          <a:ln w="2540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834640"/>
            <a:ext cx="46634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3D9DFF"/>
                </a:solidFill>
                <a:latin typeface="Malgun Gothic"/>
              </a:rPr>
              <a:t>수강생 고1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474720"/>
            <a:ext cx="4663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Malgun Gothic"/>
              </a:rPr>
              <a:t>10일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754880"/>
            <a:ext cx="46634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FFC83D"/>
                </a:solidFill>
                <a:latin typeface="Malgun Gothic"/>
              </a:rPr>
              <a:t>일매출 200만원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0">
                <a:solidFill>
                  <a:srgbClr val="B8C0CC"/>
                </a:solidFill>
                <a:latin typeface="Malgun Gothic"/>
              </a:rPr>
              <a:t>재능이 아니라  ‘구조’ 의 차이입니다.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3D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DAY 2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내일은,  ‘제품 소싱 기준’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FFC83D"/>
                </a:solidFill>
                <a:latin typeface="Malgun Gothic"/>
              </a:rPr>
              <a:t>어떤 제품을 팔아야 일매출 500이 나오는가.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3227832"/>
            <a:ext cx="164592" cy="164592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0896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되는 제품 vs 안 되는 제품 판별 기준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76472"/>
            <a:ext cx="164592" cy="164592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65760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메타광고에 최적화된 상품 카테고리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325112"/>
            <a:ext cx="164592" cy="164592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420624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초기 자본 없이도 시작 가능한 소싱 루트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73751"/>
            <a:ext cx="164592" cy="164592"/>
          </a:xfrm>
          <a:prstGeom prst="ellipse">
            <a:avLst/>
          </a:prstGeom>
          <a:solidFill>
            <a:srgbClr val="FFC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4754879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Malgun Gothic"/>
              </a:rPr>
              <a:t>1주 안에 테스트 가능한 제품 선정법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32720" cy="5394960"/>
          </a:xfrm>
          <a:prstGeom prst="roundRect">
            <a:avLst>
              <a:gd name="adj" fmla="val 4000"/>
            </a:avLst>
          </a:prstGeom>
          <a:solidFill>
            <a:srgbClr val="141A2A"/>
          </a:solidFill>
          <a:ln w="3175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FFC83D"/>
                </a:solidFill>
                <a:latin typeface="Malgun Gothic"/>
              </a:rPr>
              <a:t>정말 함께하고 싶은 분만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Malgun Gothic"/>
              </a:rPr>
              <a:t>전화번호 + 이름을 남겨주세요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000" b="0">
                <a:solidFill>
                  <a:srgbClr val="B8C0CC"/>
                </a:solidFill>
                <a:latin typeface="Malgun Gothic"/>
              </a:rPr>
              <a:t>정보를 남기신 분께만  DAY 2 강의가 전송됩니다.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931920"/>
            <a:ext cx="4206240" cy="731520"/>
          </a:xfrm>
          <a:prstGeom prst="roundRect">
            <a:avLst>
              <a:gd name="adj" fmla="val 30000"/>
            </a:avLst>
          </a:prstGeom>
          <a:solidFill>
            <a:srgbClr val="0B0F1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3931920"/>
            <a:ext cx="4206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B8C0CC"/>
                </a:solidFill>
                <a:latin typeface="Malgun Gothic"/>
              </a:rPr>
              <a:t>이름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4206240" cy="731520"/>
          </a:xfrm>
          <a:prstGeom prst="roundRect">
            <a:avLst>
              <a:gd name="adj" fmla="val 30000"/>
            </a:avLst>
          </a:prstGeom>
          <a:solidFill>
            <a:srgbClr val="0B0F1A"/>
          </a:solidFill>
          <a:ln w="15240">
            <a:solidFill>
              <a:srgbClr val="FFC8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931920"/>
            <a:ext cx="4206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800" b="0">
                <a:solidFill>
                  <a:srgbClr val="B8C0CC"/>
                </a:solidFill>
                <a:latin typeface="Malgun Gothic"/>
              </a:rPr>
              <a:t>전화번호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200" b="1">
                <a:solidFill>
                  <a:srgbClr val="FFC83D"/>
                </a:solidFill>
                <a:latin typeface="Malgun Gothic"/>
              </a:rPr>
              <a:t>일매출 500의 비밀은  ‘내일’ 부터 시작됩니다.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300" b="0">
                <a:solidFill>
                  <a:srgbClr val="B8C0CC"/>
                </a:solidFill>
                <a:latin typeface="Malgun Gothic"/>
              </a:rPr>
              <a:t>보고 시도하지 않을 거라면, 이 강의는 받지 마세요.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